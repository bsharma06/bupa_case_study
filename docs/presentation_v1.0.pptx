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23"/>
  </p:notesMasterIdLst>
  <p:handoutMasterIdLst>
    <p:handoutMasterId r:id="rId24"/>
  </p:handoutMasterIdLst>
  <p:sldIdLst>
    <p:sldId id="312" r:id="rId5"/>
    <p:sldId id="324" r:id="rId6"/>
    <p:sldId id="304" r:id="rId7"/>
    <p:sldId id="307" r:id="rId8"/>
    <p:sldId id="281" r:id="rId9"/>
    <p:sldId id="282" r:id="rId10"/>
    <p:sldId id="315" r:id="rId11"/>
    <p:sldId id="325" r:id="rId12"/>
    <p:sldId id="326" r:id="rId13"/>
    <p:sldId id="327" r:id="rId14"/>
    <p:sldId id="314" r:id="rId15"/>
    <p:sldId id="323" r:id="rId16"/>
    <p:sldId id="317" r:id="rId17"/>
    <p:sldId id="318" r:id="rId18"/>
    <p:sldId id="319" r:id="rId19"/>
    <p:sldId id="321" r:id="rId20"/>
    <p:sldId id="322" r:id="rId21"/>
    <p:sldId id="297" r:id="rId22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388" autoAdjust="0"/>
  </p:normalViewPr>
  <p:slideViewPr>
    <p:cSldViewPr snapToGrid="0" snapToObjects="1">
      <p:cViewPr varScale="1">
        <p:scale>
          <a:sx n="102" d="100"/>
          <a:sy n="102" d="100"/>
        </p:scale>
        <p:origin x="954" y="96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654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7736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9312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6530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3977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7422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C09F5-E550-C751-7BEC-BAAC773C5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059D77-07B5-7985-B2AF-5F62A55CA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B05217-2220-A13B-CE97-03F8038512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37548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88A1C-156E-AB5D-E9B3-A0F5B6BAE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7A1CCF-4B91-6165-5F0A-2168B98AD4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4EB2E1-0E2C-A0CD-F1FB-3FD450A856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41873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E25B2-7F19-34A1-C96B-26FA95C6B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3E8811-B61B-B495-CA7B-BF21532D0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6B35F3-75C8-A5E5-9D17-D7D67224A5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4663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6670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0BEF7-6357-38EA-5E62-D0FD2CB6E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7E49EF-EDF8-DA7F-6842-F09BC2B03D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D11B8-14E6-6B9D-B736-10AEE0373B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75003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146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5417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1387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8148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1307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7FF65-A536-F639-8591-ED024C223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99790" y="810227"/>
            <a:ext cx="6392421" cy="3831221"/>
          </a:xfrm>
        </p:spPr>
        <p:txBody>
          <a:bodyPr anchor="ctr"/>
          <a:lstStyle/>
          <a:p>
            <a:r>
              <a:rPr lang="en-US" dirty="0"/>
              <a:t>ABC HealthCare Case Study</a:t>
            </a:r>
            <a:br>
              <a:rPr lang="en-US" dirty="0"/>
            </a:br>
            <a:br>
              <a:rPr lang="en-US" dirty="0"/>
            </a:br>
            <a:r>
              <a:rPr lang="en-US" sz="1800" dirty="0">
                <a:latin typeface="+mn-lt"/>
              </a:rPr>
              <a:t>Bhoopesh Sharma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02437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362F7-DE83-0C1D-083C-B71FB830A8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ABC HealthCare Case Study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129BE8-E310-580F-4A15-FBE425EADF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Bhoopesh Sharma</a:t>
            </a:r>
          </a:p>
        </p:txBody>
      </p:sp>
    </p:spTree>
    <p:extLst>
      <p:ext uri="{BB962C8B-B14F-4D97-AF65-F5344CB8AC3E}">
        <p14:creationId xmlns:p14="http://schemas.microsoft.com/office/powerpoint/2010/main" val="1918435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6583680" cy="1531357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834640"/>
            <a:ext cx="6583680" cy="3207344"/>
          </a:xfrm>
        </p:spPr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Building confidence</a:t>
            </a:r>
          </a:p>
          <a:p>
            <a:r>
              <a:rPr lang="en-US" dirty="0"/>
              <a:t>Engaging the audience</a:t>
            </a:r>
          </a:p>
          <a:p>
            <a:r>
              <a:rPr lang="en-US" dirty="0"/>
              <a:t>Visual aids</a:t>
            </a:r>
          </a:p>
          <a:p>
            <a:r>
              <a:rPr lang="en-US" dirty="0"/>
              <a:t>Final tips &amp; takeaways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3219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EDA75-0988-2AC2-87F8-8DEC83A7B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2441" y="1061623"/>
            <a:ext cx="5723586" cy="4739104"/>
          </a:xfrm>
        </p:spPr>
        <p:txBody>
          <a:bodyPr/>
          <a:lstStyle/>
          <a:p>
            <a:r>
              <a:rPr lang="en-US" dirty="0"/>
              <a:t>The power of communication</a:t>
            </a:r>
          </a:p>
        </p:txBody>
      </p:sp>
      <p:pic>
        <p:nvPicPr>
          <p:cNvPr id="7" name="Picture Placeholder 6" descr="A person standing in front of a whiteboard">
            <a:extLst>
              <a:ext uri="{FF2B5EF4-FFF2-40B4-BE49-F238E27FC236}">
                <a16:creationId xmlns:a16="http://schemas.microsoft.com/office/drawing/2014/main" id="{DD186EAB-37C7-E7E6-AE8D-F077D02804F9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 l="27208" r="27208"/>
          <a:stretch/>
        </p:blipFill>
        <p:spPr>
          <a:xfrm>
            <a:off x="443345" y="0"/>
            <a:ext cx="4344695" cy="6359525"/>
          </a:xfrm>
        </p:spPr>
      </p:pic>
    </p:spTree>
    <p:extLst>
      <p:ext uri="{BB962C8B-B14F-4D97-AF65-F5344CB8AC3E}">
        <p14:creationId xmlns:p14="http://schemas.microsoft.com/office/powerpoint/2010/main" val="29064919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5"/>
            <a:ext cx="5259554" cy="2495028"/>
          </a:xfrm>
        </p:spPr>
        <p:txBody>
          <a:bodyPr/>
          <a:lstStyle/>
          <a:p>
            <a:r>
              <a:rPr lang="en-US" dirty="0"/>
              <a:t>Overcoming nervousness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E339BF-E6D7-DD0E-AF02-6813852EE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808750"/>
            <a:ext cx="5259554" cy="2233233"/>
          </a:xfrm>
        </p:spPr>
        <p:txBody>
          <a:bodyPr/>
          <a:lstStyle/>
          <a:p>
            <a:r>
              <a:rPr lang="en-US" dirty="0"/>
              <a:t>Confidence-building strategies</a:t>
            </a:r>
          </a:p>
        </p:txBody>
      </p:sp>
      <p:pic>
        <p:nvPicPr>
          <p:cNvPr id="6" name="Picture Placeholder 5" descr="A person holding a microphone and standing in front of a group of people">
            <a:extLst>
              <a:ext uri="{FF2B5EF4-FFF2-40B4-BE49-F238E27FC236}">
                <a16:creationId xmlns:a16="http://schemas.microsoft.com/office/drawing/2014/main" id="{FECDA901-DD88-89EB-E10E-A2994D0A92DB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rcRect l="27745" r="27745"/>
          <a:stretch/>
        </p:blipFill>
        <p:spPr>
          <a:xfrm>
            <a:off x="7414194" y="410780"/>
            <a:ext cx="4344695" cy="6447220"/>
          </a:xfrm>
        </p:spPr>
      </p:pic>
    </p:spTree>
    <p:extLst>
      <p:ext uri="{BB962C8B-B14F-4D97-AF65-F5344CB8AC3E}">
        <p14:creationId xmlns:p14="http://schemas.microsoft.com/office/powerpoint/2010/main" val="2952923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565" y="1057274"/>
            <a:ext cx="7965461" cy="994164"/>
          </a:xfrm>
        </p:spPr>
        <p:txBody>
          <a:bodyPr/>
          <a:lstStyle/>
          <a:p>
            <a:r>
              <a:rPr lang="en-US" dirty="0"/>
              <a:t>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60565" y="2303029"/>
            <a:ext cx="7965460" cy="349769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Using descriptive analytics, statistical outlier detection and supervised/unsupervised models to priorities high-risk payments and recommend process &amp; data controls to reduce fraud risk and shorten payment times.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Detect anomalous/fraudulent payment requests.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Explain drivers of long payment lead times.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Deliver actionable sample lists for audit follow-up and controls recommendations.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Approach (3 pillars):</a:t>
            </a:r>
          </a:p>
          <a:p>
            <a:pPr lvl="1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Descriptive &amp; diagnostic analytics (Power BI / Pandas)</a:t>
            </a:r>
          </a:p>
          <a:p>
            <a:pPr lvl="1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Statistical outlier detection &amp; sampling (Z-score, IQR, rule-based heuristics)</a:t>
            </a:r>
          </a:p>
          <a:p>
            <a:pPr lvl="1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ML &amp; AI (supervised classifier + unsupervised anomaly detection + AI-assisted audit report)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A34A6-22BC-27A4-2C79-EE98A494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834635"/>
            <a:ext cx="7796464" cy="1222385"/>
          </a:xfrm>
        </p:spPr>
        <p:txBody>
          <a:bodyPr/>
          <a:lstStyle/>
          <a:p>
            <a:r>
              <a:rPr lang="en-US" dirty="0"/>
              <a:t>Regression analysis for payment time prediction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67C004-8B72-C872-98FB-00A2A584D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AEF9954A-E263-8A7E-58B1-4D03F7D1BD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303028"/>
            <a:ext cx="3283119" cy="3720337"/>
          </a:xfrm>
        </p:spPr>
        <p:txBody>
          <a:bodyPr>
            <a:normAutofit/>
          </a:bodyPr>
          <a:lstStyle/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Here are the key results from the Linear Regression model:</a:t>
            </a:r>
          </a:p>
          <a:p>
            <a:pPr lvl="1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Mean Absolute Error (MAE): </a:t>
            </a:r>
            <a:r>
              <a:rPr lang="en-US" sz="1600" b="1" dirty="0">
                <a:solidFill>
                  <a:srgbClr val="202C8F"/>
                </a:solidFill>
              </a:rPr>
              <a:t>6.68 days</a:t>
            </a:r>
          </a:p>
          <a:p>
            <a:pPr lvl="1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Mean Squared Error (MSE): </a:t>
            </a:r>
            <a:r>
              <a:rPr lang="en-US" sz="1600" b="1" dirty="0">
                <a:solidFill>
                  <a:srgbClr val="202C8F"/>
                </a:solidFill>
              </a:rPr>
              <a:t>64.83</a:t>
            </a:r>
          </a:p>
          <a:p>
            <a:pPr lvl="1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Root Mean Squared Error (RMSE): </a:t>
            </a:r>
            <a:r>
              <a:rPr lang="en-US" sz="1600" b="1" dirty="0">
                <a:solidFill>
                  <a:srgbClr val="202C8F"/>
                </a:solidFill>
              </a:rPr>
              <a:t>8.05 days</a:t>
            </a:r>
          </a:p>
          <a:p>
            <a:pPr lvl="1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R-squared (R2): </a:t>
            </a:r>
            <a:r>
              <a:rPr lang="en-US" sz="1600" b="1" dirty="0">
                <a:solidFill>
                  <a:srgbClr val="202C8F"/>
                </a:solidFill>
              </a:rPr>
              <a:t>- 0.19</a:t>
            </a:r>
          </a:p>
        </p:txBody>
      </p:sp>
      <p:sp>
        <p:nvSpPr>
          <p:cNvPr id="17" name="Content Placeholder 6">
            <a:extLst>
              <a:ext uri="{FF2B5EF4-FFF2-40B4-BE49-F238E27FC236}">
                <a16:creationId xmlns:a16="http://schemas.microsoft.com/office/drawing/2014/main" id="{33680A80-5C61-DD02-1119-0565C0AD53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308049" y="2303028"/>
            <a:ext cx="4402814" cy="3720337"/>
          </a:xfrm>
        </p:spPr>
        <p:txBody>
          <a:bodyPr>
            <a:noAutofit/>
          </a:bodyPr>
          <a:lstStyle/>
          <a:p>
            <a:r>
              <a:rPr lang="en-US" sz="1600" b="1" dirty="0"/>
              <a:t>Analysis:</a:t>
            </a:r>
          </a:p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Based on these results, the model does not strongly support the hypothesis that "all invoices take ~same time ±1 day." </a:t>
            </a:r>
            <a:r>
              <a:rPr lang="en-US" sz="1600" dirty="0">
                <a:solidFill>
                  <a:srgbClr val="202C8F"/>
                </a:solidFill>
              </a:rPr>
              <a:t>The Mean Absolute Error of 6.68 days indicates that, on average, our predictions are off by approximately 6.68 days, which is significantly higher than the ±1 day specified in the hypothesis.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The negative R-squared value suggests that the model performs worse than a simple horizontal line at the mean of the observed payment times, implying that the current features and linear model are not effectively capturing the underlying patterns in the data.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3D9721-B384-07CD-5190-13D96024D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1321" y="1066077"/>
            <a:ext cx="2754308" cy="2473902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843D60-B8D3-5C09-C9CD-8570386C0A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1321" y="3715105"/>
            <a:ext cx="2754308" cy="2473902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68595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5661759-6C45-6FE6-E6D6-588F538D0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1557C-9E30-EE9D-8861-18466150C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834635"/>
            <a:ext cx="7796464" cy="1222385"/>
          </a:xfrm>
        </p:spPr>
        <p:txBody>
          <a:bodyPr/>
          <a:lstStyle/>
          <a:p>
            <a:r>
              <a:rPr lang="en-US" dirty="0"/>
              <a:t>Outlier Detection using Z-scores for Audit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8F14A5-95BB-4D21-2811-14F3F05CE7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7" name="Content Placeholder 6">
            <a:extLst>
              <a:ext uri="{FF2B5EF4-FFF2-40B4-BE49-F238E27FC236}">
                <a16:creationId xmlns:a16="http://schemas.microsoft.com/office/drawing/2014/main" id="{039072AD-1D56-8230-471F-B207105552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183224" y="2296489"/>
            <a:ext cx="4402814" cy="4335516"/>
          </a:xfrm>
        </p:spPr>
        <p:txBody>
          <a:bodyPr>
            <a:noAutofit/>
          </a:bodyPr>
          <a:lstStyle/>
          <a:p>
            <a:r>
              <a:rPr lang="en-US" sz="1600" b="1" dirty="0"/>
              <a:t>Analysis:</a:t>
            </a:r>
          </a:p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Identified </a:t>
            </a:r>
            <a:r>
              <a:rPr lang="en-US" sz="1600" dirty="0">
                <a:solidFill>
                  <a:srgbClr val="202C8F"/>
                </a:solidFill>
              </a:rPr>
              <a:t>0 outliers in 'time to payment' using a Z-score threshold of 3 and 33 outliers using 2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This suggests that, based on a normal distribution assumption and these specific threshold, there are no data points that are significantly far from the mean payment time.</a:t>
            </a:r>
          </a:p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It's possible that: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The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time_to_payment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data is not normally distributed, making Z-scores less effective for outlier detection.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The chosen threshold of 3 or 2 is too conservative.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There are indeed no extreme outliers in the dataset.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015A6A-9482-34B2-9B09-93060FE2ACE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Here are the key results:</a:t>
            </a:r>
          </a:p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Identified 33 outliers in '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time_to_payment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' using a Z-score threshold of 2.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Percentage of outliers: </a:t>
            </a:r>
            <a:r>
              <a:rPr lang="en-US" sz="1600" b="1" dirty="0">
                <a:solidFill>
                  <a:srgbClr val="202C8F"/>
                </a:solidFill>
              </a:rPr>
              <a:t>2.31%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Summary of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time_to_payment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</a:t>
            </a:r>
          </a:p>
          <a:p>
            <a:pPr marL="569214" lvl="1" indent="-285750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count  - </a:t>
            </a:r>
            <a:r>
              <a:rPr lang="en-US" sz="1600" b="1" dirty="0">
                <a:solidFill>
                  <a:srgbClr val="202C8F"/>
                </a:solidFill>
              </a:rPr>
              <a:t>1428.000000</a:t>
            </a:r>
          </a:p>
          <a:p>
            <a:pPr marL="569214" lvl="1" indent="-285750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mean - </a:t>
            </a:r>
            <a:r>
              <a:rPr lang="en-US" sz="1600" b="1" dirty="0">
                <a:solidFill>
                  <a:srgbClr val="202C8F"/>
                </a:solidFill>
              </a:rPr>
              <a:t>18.469888</a:t>
            </a:r>
          </a:p>
          <a:p>
            <a:pPr marL="569214" lvl="1" indent="-285750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Std - </a:t>
            </a:r>
            <a:r>
              <a:rPr lang="en-US" sz="1600" b="1" dirty="0">
                <a:solidFill>
                  <a:srgbClr val="202C8F"/>
                </a:solidFill>
              </a:rPr>
              <a:t>7.273981</a:t>
            </a:r>
          </a:p>
          <a:p>
            <a:pPr marL="569214" lvl="1" indent="-285750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min - </a:t>
            </a:r>
            <a:r>
              <a:rPr lang="en-US" sz="1600" b="1" dirty="0">
                <a:solidFill>
                  <a:srgbClr val="202C8F"/>
                </a:solidFill>
              </a:rPr>
              <a:t>2.000000</a:t>
            </a:r>
          </a:p>
          <a:p>
            <a:pPr marL="569214" lvl="1" indent="-285750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max - </a:t>
            </a:r>
            <a:r>
              <a:rPr lang="en-US" sz="1600" b="1" dirty="0">
                <a:solidFill>
                  <a:srgbClr val="202C8F"/>
                </a:solidFill>
              </a:rPr>
              <a:t>35.000000</a:t>
            </a:r>
            <a:endParaRPr lang="en-IN" sz="1600" b="1" dirty="0">
              <a:solidFill>
                <a:srgbClr val="202C8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E30113D-10F0-5C8C-7AD0-21492882F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2241" y="4240846"/>
            <a:ext cx="2812868" cy="1171043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A73A2CB-1915-5E56-F17F-E39D990FA3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2241" y="2303028"/>
            <a:ext cx="2812868" cy="1818722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0BEF5C-7ED4-DE77-49A6-FCC80D3C14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2241" y="5530985"/>
            <a:ext cx="2812868" cy="1171043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784557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1C5D45D-2420-5F96-3876-1A5EAA25B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E179F-09C7-5445-9DD8-F66BA3374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834635"/>
            <a:ext cx="7796464" cy="1222385"/>
          </a:xfrm>
        </p:spPr>
        <p:txBody>
          <a:bodyPr/>
          <a:lstStyle/>
          <a:p>
            <a:r>
              <a:rPr lang="en-US" dirty="0"/>
              <a:t>Supervised Model for Fraud Detection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8378B5-5D07-8B28-1C7C-6F32AA0D65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7" name="Content Placeholder 6">
            <a:extLst>
              <a:ext uri="{FF2B5EF4-FFF2-40B4-BE49-F238E27FC236}">
                <a16:creationId xmlns:a16="http://schemas.microsoft.com/office/drawing/2014/main" id="{FF8E358F-0FE6-412D-84BA-FA0CB3EBFD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970665" y="2133220"/>
            <a:ext cx="5888826" cy="2083980"/>
          </a:xfrm>
        </p:spPr>
        <p:txBody>
          <a:bodyPr>
            <a:noAutofit/>
          </a:bodyPr>
          <a:lstStyle/>
          <a:p>
            <a:r>
              <a:rPr lang="en-US" sz="1600" b="1" dirty="0"/>
              <a:t>Analysis:</a:t>
            </a:r>
          </a:p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The fraud detection model achieved 96% accuracy and a ROC-AUC score of 0.78, showing a good ability to distinguish between fraud and non-fraud cases. </a:t>
            </a:r>
            <a:r>
              <a:rPr lang="en-US" sz="1400" dirty="0">
                <a:solidFill>
                  <a:srgbClr val="202C8F"/>
                </a:solidFill>
              </a:rPr>
              <a:t>It correctly identified 134 non-fraud and 1 fraud case but missed 5 actual frauds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While its precision for fraud is perfect (1.00), meaning every fraud prediction is correct, its recall is very low (0.17), indicating it detects only 17% of real frauds. The low F1-score (0.29) further reflects this imbalance, suggesting the model struggles to identify all fraudulent transactions due to the highly imbalanced dataset.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CB72E60-741A-AA56-2F58-D759FA9E6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9" y="2133220"/>
            <a:ext cx="2337848" cy="2032724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F73CC5C-D368-29BB-3107-4EA673238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5125" y="2133220"/>
            <a:ext cx="2286277" cy="2032724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D7A0271-7743-11F1-7325-BC672B6FCB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99" y="4436889"/>
            <a:ext cx="2337847" cy="208398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77AA83F-6561-6BBD-23E0-96E71AA61B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5125" y="4436890"/>
            <a:ext cx="2286277" cy="208398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07AE3C6-0F69-AE25-6AD4-8918842D6D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70665" y="4436889"/>
            <a:ext cx="3542790" cy="208398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27339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19B111B-9236-BD68-6004-04EBA9540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98FBE-F3D6-4111-F905-4195574FD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834635"/>
            <a:ext cx="7796464" cy="1222385"/>
          </a:xfrm>
        </p:spPr>
        <p:txBody>
          <a:bodyPr/>
          <a:lstStyle/>
          <a:p>
            <a:r>
              <a:rPr lang="en-US" dirty="0"/>
              <a:t>Unsupervised Model to Detect Anomalies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24DCA0-8503-AC44-A893-58995C2A5E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7" name="Content Placeholder 6">
            <a:extLst>
              <a:ext uri="{FF2B5EF4-FFF2-40B4-BE49-F238E27FC236}">
                <a16:creationId xmlns:a16="http://schemas.microsoft.com/office/drawing/2014/main" id="{243D5808-6D28-A5F1-CD92-4E0697FCC3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792210" y="2135246"/>
            <a:ext cx="3633817" cy="4335516"/>
          </a:xfrm>
        </p:spPr>
        <p:txBody>
          <a:bodyPr>
            <a:noAutofit/>
          </a:bodyPr>
          <a:lstStyle/>
          <a:p>
            <a:r>
              <a:rPr lang="en-US" sz="1600" b="1" dirty="0"/>
              <a:t>Analysis:</a:t>
            </a:r>
          </a:p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The Isolation Forest model </a:t>
            </a:r>
            <a:r>
              <a:rPr lang="en-US" sz="1600" dirty="0">
                <a:solidFill>
                  <a:srgbClr val="202C8F"/>
                </a:solidFill>
              </a:rPr>
              <a:t>identified 100 instances as anomalies within the payment data, assuming a 5% contamination rate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These anomalies represent data points that deviate significantly from the normal patterns observed in the dataset across various features such as 'Invoice value' and '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time_to_payment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'. These identified anomalies warrant further investigation as they could indicate unusual payment activities, potential errors, or even fraudulent transactions that are not easily captured by simple outlier rules.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1A571A9-A7F5-C11A-16E7-A672299553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9" y="2264462"/>
            <a:ext cx="3787315" cy="196947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F17244-7B46-A25C-78FA-9EBFE66187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9" y="4303004"/>
            <a:ext cx="3787315" cy="233554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419D3FB-3E36-B3AF-EAAA-BD7580B12B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050" y="4303004"/>
            <a:ext cx="2635824" cy="233554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41AAEEE-3B88-7FDB-9605-A23C67EB7A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9050" y="2264462"/>
            <a:ext cx="2635824" cy="1968526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930981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7043617" cy="2520217"/>
          </a:xfrm>
        </p:spPr>
        <p:txBody>
          <a:bodyPr/>
          <a:lstStyle/>
          <a:p>
            <a:r>
              <a:rPr lang="en-US" dirty="0"/>
              <a:t>Selecting </a:t>
            </a:r>
            <a:br>
              <a:rPr lang="en-US" dirty="0"/>
            </a:br>
            <a:r>
              <a:rPr lang="en-US" dirty="0"/>
              <a:t>visual aids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/>
          <a:lstStyle/>
          <a:p>
            <a:r>
              <a:rPr lang="en-US" dirty="0"/>
              <a:t>Enhancing your presentation</a:t>
            </a:r>
          </a:p>
        </p:txBody>
      </p:sp>
    </p:spTree>
    <p:extLst>
      <p:ext uri="{BB962C8B-B14F-4D97-AF65-F5344CB8AC3E}">
        <p14:creationId xmlns:p14="http://schemas.microsoft.com/office/powerpoint/2010/main" val="11317180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FC104-8204-E81C-3850-0821F5BC7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D5685-7551-4613-958C-47D59E6FF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834635"/>
            <a:ext cx="7796464" cy="1222385"/>
          </a:xfrm>
        </p:spPr>
        <p:txBody>
          <a:bodyPr/>
          <a:lstStyle/>
          <a:p>
            <a:r>
              <a:rPr lang="en-US" dirty="0"/>
              <a:t>Effective delivery techniques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C9917A-25EF-5587-93C3-06D06896D1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48EE6E2F-FF06-27FD-1590-C7A45F1F73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303028"/>
            <a:ext cx="3283119" cy="3720337"/>
          </a:xfrm>
        </p:spPr>
        <p:txBody>
          <a:bodyPr>
            <a:normAutofit/>
          </a:bodyPr>
          <a:lstStyle/>
          <a:p>
            <a:r>
              <a:rPr lang="en-US" dirty="0"/>
              <a:t>This is a powerful tool in public speaking. It involves varying pitch, tone, and volume to convey emotion, emphasize points, and maintain interest. </a:t>
            </a:r>
          </a:p>
          <a:p>
            <a:pPr lvl="1"/>
            <a:r>
              <a:rPr lang="en-US" dirty="0"/>
              <a:t>Pitch variation</a:t>
            </a:r>
          </a:p>
          <a:p>
            <a:pPr lvl="1"/>
            <a:r>
              <a:rPr lang="en-US" dirty="0"/>
              <a:t>Tone inflection</a:t>
            </a:r>
          </a:p>
          <a:p>
            <a:pPr lvl="1"/>
            <a:r>
              <a:rPr lang="en-US" dirty="0"/>
              <a:t>Volume control</a:t>
            </a:r>
          </a:p>
        </p:txBody>
      </p:sp>
      <p:sp>
        <p:nvSpPr>
          <p:cNvPr id="17" name="Content Placeholder 6">
            <a:extLst>
              <a:ext uri="{FF2B5EF4-FFF2-40B4-BE49-F238E27FC236}">
                <a16:creationId xmlns:a16="http://schemas.microsoft.com/office/drawing/2014/main" id="{60D57B5F-E345-5E7A-097B-EE6CCE9AC1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82159" y="2303028"/>
            <a:ext cx="3284951" cy="3720337"/>
          </a:xfrm>
        </p:spPr>
        <p:txBody>
          <a:bodyPr>
            <a:normAutofit/>
          </a:bodyPr>
          <a:lstStyle/>
          <a:p>
            <a:r>
              <a:rPr lang="en-US" dirty="0"/>
              <a:t>Effective body language enhances your message, making it more impactful and memorable.</a:t>
            </a:r>
          </a:p>
          <a:p>
            <a:pPr lvl="1"/>
            <a:r>
              <a:rPr lang="en-US" dirty="0"/>
              <a:t>Meaningful eye contact</a:t>
            </a:r>
          </a:p>
          <a:p>
            <a:pPr lvl="1"/>
            <a:r>
              <a:rPr lang="en-US" dirty="0"/>
              <a:t>Purposeful gestures</a:t>
            </a:r>
          </a:p>
          <a:p>
            <a:pPr lvl="1"/>
            <a:r>
              <a:rPr lang="en-US" dirty="0"/>
              <a:t>Maintain good posture</a:t>
            </a:r>
          </a:p>
          <a:p>
            <a:pPr lvl="1"/>
            <a:r>
              <a:rPr lang="en-US" dirty="0"/>
              <a:t>Control your expressions</a:t>
            </a:r>
          </a:p>
        </p:txBody>
      </p:sp>
    </p:spTree>
    <p:extLst>
      <p:ext uri="{BB962C8B-B14F-4D97-AF65-F5344CB8AC3E}">
        <p14:creationId xmlns:p14="http://schemas.microsoft.com/office/powerpoint/2010/main" val="23977610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65393"/>
            <a:ext cx="7631709" cy="1091627"/>
          </a:xfrm>
        </p:spPr>
        <p:txBody>
          <a:bodyPr/>
          <a:lstStyle/>
          <a:p>
            <a:r>
              <a:rPr lang="en-US" dirty="0"/>
              <a:t>Navigating Q&amp;A </a:t>
            </a:r>
            <a:br>
              <a:rPr lang="en-US" dirty="0"/>
            </a:br>
            <a:r>
              <a:rPr lang="en-US" dirty="0"/>
              <a:t>sessions</a:t>
            </a:r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400" y="2303463"/>
            <a:ext cx="3282950" cy="4143375"/>
          </a:xfrm>
        </p:spPr>
        <p:txBody>
          <a:bodyPr>
            <a:normAutofit/>
          </a:bodyPr>
          <a:lstStyle/>
          <a:p>
            <a:r>
              <a:rPr lang="en-US" dirty="0"/>
              <a:t>Maintaining composure during the Q&amp;A session is essential for projecting confidence and authority. Consider the following tips for staying composed:</a:t>
            </a:r>
          </a:p>
          <a:p>
            <a:r>
              <a:rPr lang="en-US" dirty="0"/>
              <a:t>Stay calm</a:t>
            </a:r>
          </a:p>
          <a:p>
            <a:r>
              <a:rPr lang="en-US" dirty="0"/>
              <a:t>Actively listen</a:t>
            </a:r>
          </a:p>
          <a:p>
            <a:r>
              <a:rPr lang="en-US" dirty="0"/>
              <a:t>Pause and reflect</a:t>
            </a:r>
          </a:p>
          <a:p>
            <a:r>
              <a:rPr lang="en-US" dirty="0"/>
              <a:t>Maintain eye contact</a:t>
            </a:r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58AC0C8B-8A7A-9FAE-2D0F-4D1C3A8C3F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81550" y="2303463"/>
            <a:ext cx="3763963" cy="4143375"/>
          </a:xfrm>
        </p:spPr>
        <p:txBody>
          <a:bodyPr/>
          <a:lstStyle/>
          <a:p>
            <a:r>
              <a:rPr lang="en-US" dirty="0"/>
              <a:t>Know your material in advance</a:t>
            </a:r>
          </a:p>
          <a:p>
            <a:r>
              <a:rPr lang="en-US" dirty="0"/>
              <a:t>Anticipate common questions</a:t>
            </a:r>
          </a:p>
          <a:p>
            <a:r>
              <a:rPr lang="en-US" dirty="0"/>
              <a:t>Rehearse your responses</a:t>
            </a:r>
          </a:p>
        </p:txBody>
      </p:sp>
      <p:pic>
        <p:nvPicPr>
          <p:cNvPr id="10" name="Picture Placeholder 9" descr="A person wearing a blue suit and headphones pointing at a computer">
            <a:extLst>
              <a:ext uri="{FF2B5EF4-FFF2-40B4-BE49-F238E27FC236}">
                <a16:creationId xmlns:a16="http://schemas.microsoft.com/office/drawing/2014/main" id="{DD0A0899-5B02-CEB5-E5DD-448B169C237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 l="31888" r="31888"/>
          <a:stretch/>
        </p:blipFill>
        <p:spPr>
          <a:xfrm>
            <a:off x="8989454" y="965393"/>
            <a:ext cx="3202545" cy="589260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16196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43EC8A-1733-CCF7-081F-EB4667CB3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/>
          <a:lstStyle/>
          <a:p>
            <a:r>
              <a:rPr lang="en-US" dirty="0"/>
              <a:t>Speaking impact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E55D3D-AA24-CF53-6679-29B3C83F764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14400" y="2331791"/>
            <a:ext cx="6903076" cy="3721817"/>
          </a:xfrm>
        </p:spPr>
        <p:txBody>
          <a:bodyPr/>
          <a:lstStyle/>
          <a:p>
            <a:r>
              <a:rPr lang="en-US" dirty="0"/>
              <a:t>Your ability to communicate effectively will leave a lasting impact on your audience</a:t>
            </a:r>
          </a:p>
          <a:p>
            <a:endParaRPr lang="en-US" dirty="0"/>
          </a:p>
          <a:p>
            <a:r>
              <a:rPr lang="en-US" dirty="0"/>
              <a:t>Effectively communicating involves not only delivering a message but also resonating with the experiences, values, and emotions of those listening </a:t>
            </a:r>
          </a:p>
        </p:txBody>
      </p:sp>
      <p:pic>
        <p:nvPicPr>
          <p:cNvPr id="7" name="Picture Placeholder 6" descr="A person wearing glasses and a blue shirt">
            <a:extLst>
              <a:ext uri="{FF2B5EF4-FFF2-40B4-BE49-F238E27FC236}">
                <a16:creationId xmlns:a16="http://schemas.microsoft.com/office/drawing/2014/main" id="{C570EB79-053B-0283-9D2D-6266701EEDD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rcRect l="19088" r="19088"/>
          <a:stretch/>
        </p:blipFill>
        <p:spPr>
          <a:xfrm>
            <a:off x="8989454" y="3405189"/>
            <a:ext cx="3202546" cy="3452811"/>
          </a:xfr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69D854-FB65-0E93-CFE2-041F7C41DD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21017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6FCF6-982C-CC37-9625-3EBFC7E7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3" y="1089213"/>
            <a:ext cx="9879437" cy="980844"/>
          </a:xfrm>
        </p:spPr>
        <p:txBody>
          <a:bodyPr/>
          <a:lstStyle/>
          <a:p>
            <a:r>
              <a:rPr lang="en-US" dirty="0"/>
              <a:t>Dynamic delivery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DCC342-9FD1-7055-EAAC-008DC851B1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50564" y="2331958"/>
            <a:ext cx="2975217" cy="3704266"/>
          </a:xfrm>
        </p:spPr>
        <p:txBody>
          <a:bodyPr/>
          <a:lstStyle/>
          <a:p>
            <a:r>
              <a:rPr lang="en-US" dirty="0"/>
              <a:t>Learn to infuse energy into your delivery to leave a lasting impression</a:t>
            </a:r>
          </a:p>
          <a:p>
            <a:r>
              <a:rPr lang="en-US" dirty="0"/>
              <a:t>One of the goals of effective communication is to motivate your audience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DB3991E-0605-C20E-53AD-D64E13638DA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133818870"/>
              </p:ext>
            </p:extLst>
          </p:nvPr>
        </p:nvGraphicFramePr>
        <p:xfrm>
          <a:off x="5087938" y="2332038"/>
          <a:ext cx="6345236" cy="3879279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227408">
                  <a:extLst>
                    <a:ext uri="{9D8B030D-6E8A-4147-A177-3AD203B41FA5}">
                      <a16:colId xmlns:a16="http://schemas.microsoft.com/office/drawing/2014/main" val="180956085"/>
                    </a:ext>
                  </a:extLst>
                </a:gridCol>
                <a:gridCol w="2227408">
                  <a:extLst>
                    <a:ext uri="{9D8B030D-6E8A-4147-A177-3AD203B41FA5}">
                      <a16:colId xmlns:a16="http://schemas.microsoft.com/office/drawing/2014/main" val="1180706872"/>
                    </a:ext>
                  </a:extLst>
                </a:gridCol>
                <a:gridCol w="945210">
                  <a:extLst>
                    <a:ext uri="{9D8B030D-6E8A-4147-A177-3AD203B41FA5}">
                      <a16:colId xmlns:a16="http://schemas.microsoft.com/office/drawing/2014/main" val="2050154702"/>
                    </a:ext>
                  </a:extLst>
                </a:gridCol>
                <a:gridCol w="945210">
                  <a:extLst>
                    <a:ext uri="{9D8B030D-6E8A-4147-A177-3AD203B41FA5}">
                      <a16:colId xmlns:a16="http://schemas.microsoft.com/office/drawing/2014/main" val="1872764148"/>
                    </a:ext>
                  </a:extLst>
                </a:gridCol>
              </a:tblGrid>
              <a:tr h="60612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Actual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42786"/>
                  </a:ext>
                </a:extLst>
              </a:tr>
              <a:tr h="60612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Audience attendance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# of attendees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8576737"/>
                  </a:ext>
                </a:extLst>
              </a:tr>
              <a:tr h="64349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Engagement 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Minutes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6410507"/>
                  </a:ext>
                </a:extLst>
              </a:tr>
              <a:tr h="60612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Q&amp;A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# of questions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8116840"/>
                  </a:ext>
                </a:extLst>
              </a:tr>
              <a:tr h="60612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Positive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3592559"/>
                  </a:ext>
                </a:extLst>
              </a:tr>
              <a:tr h="81126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Rate of information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6564953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13EEC9-16E3-6C86-97D0-A7EC7EA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99961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/>
          <a:lstStyle/>
          <a:p>
            <a:r>
              <a:rPr lang="en-US" dirty="0"/>
              <a:t>Final tips &amp; takeaways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88BD9B8-D6A6-D55A-830D-4D3CC2DC3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50564" y="2303028"/>
            <a:ext cx="5829147" cy="3961593"/>
          </a:xfrm>
        </p:spPr>
        <p:txBody>
          <a:bodyPr>
            <a:normAutofit/>
          </a:bodyPr>
          <a:lstStyle/>
          <a:p>
            <a:r>
              <a:rPr lang="en-US" dirty="0"/>
              <a:t>Consistent rehearsal</a:t>
            </a:r>
          </a:p>
          <a:p>
            <a:pPr lvl="1"/>
            <a:r>
              <a:rPr lang="en-US" dirty="0"/>
              <a:t>Strengthen your familiarity</a:t>
            </a:r>
          </a:p>
          <a:p>
            <a:r>
              <a:rPr lang="en-US" dirty="0"/>
              <a:t>Refine delivery style</a:t>
            </a:r>
          </a:p>
          <a:p>
            <a:pPr lvl="1"/>
            <a:r>
              <a:rPr lang="en-US" dirty="0"/>
              <a:t>Pacing, tone, and emphasis</a:t>
            </a:r>
          </a:p>
          <a:p>
            <a:r>
              <a:rPr lang="en-US" dirty="0"/>
              <a:t>Timing and transitions</a:t>
            </a:r>
          </a:p>
          <a:p>
            <a:pPr lvl="1"/>
            <a:r>
              <a:rPr lang="en-US" dirty="0"/>
              <a:t>Aim for seamless, professional delivery</a:t>
            </a:r>
          </a:p>
          <a:p>
            <a:r>
              <a:rPr lang="en-US" dirty="0"/>
              <a:t>Practice audience</a:t>
            </a:r>
          </a:p>
          <a:p>
            <a:pPr lvl="1"/>
            <a:r>
              <a:rPr lang="en-US" dirty="0"/>
              <a:t>Enlist colleagues to listen &amp; provide feedback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0853098E-C088-D323-4BF2-987893F262F6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7940842" y="2303028"/>
            <a:ext cx="3485184" cy="3961593"/>
          </a:xfrm>
        </p:spPr>
        <p:txBody>
          <a:bodyPr/>
          <a:lstStyle/>
          <a:p>
            <a:r>
              <a:rPr lang="en-US" dirty="0"/>
              <a:t>Seek feedback</a:t>
            </a:r>
          </a:p>
          <a:p>
            <a:r>
              <a:rPr lang="en-US" dirty="0"/>
              <a:t>Reflect on performance</a:t>
            </a:r>
          </a:p>
          <a:p>
            <a:r>
              <a:rPr lang="en-US" dirty="0"/>
              <a:t>Explore new techniques</a:t>
            </a:r>
          </a:p>
          <a:p>
            <a:r>
              <a:rPr lang="en-US" dirty="0"/>
              <a:t>Set personal goals</a:t>
            </a:r>
          </a:p>
          <a:p>
            <a:r>
              <a:rPr lang="en-US" dirty="0"/>
              <a:t>Iterate and adapt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10511627" cy="1012785"/>
          </a:xfrm>
        </p:spPr>
        <p:txBody>
          <a:bodyPr/>
          <a:lstStyle/>
          <a:p>
            <a:r>
              <a:rPr lang="en-US" dirty="0"/>
              <a:t>Speaking engagement metrics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C0C7FF8-9CAF-6C67-C1E5-AF40401D0B3D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3999503228"/>
              </p:ext>
            </p:extLst>
          </p:nvPr>
        </p:nvGraphicFramePr>
        <p:xfrm>
          <a:off x="914400" y="2316163"/>
          <a:ext cx="10510836" cy="394846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4080076">
                  <a:extLst>
                    <a:ext uri="{9D8B030D-6E8A-4147-A177-3AD203B41FA5}">
                      <a16:colId xmlns:a16="http://schemas.microsoft.com/office/drawing/2014/main" val="1764027237"/>
                    </a:ext>
                  </a:extLst>
                </a:gridCol>
                <a:gridCol w="4080076">
                  <a:extLst>
                    <a:ext uri="{9D8B030D-6E8A-4147-A177-3AD203B41FA5}">
                      <a16:colId xmlns:a16="http://schemas.microsoft.com/office/drawing/2014/main" val="778914542"/>
                    </a:ext>
                  </a:extLst>
                </a:gridCol>
                <a:gridCol w="1175342">
                  <a:extLst>
                    <a:ext uri="{9D8B030D-6E8A-4147-A177-3AD203B41FA5}">
                      <a16:colId xmlns:a16="http://schemas.microsoft.com/office/drawing/2014/main" val="4233386372"/>
                    </a:ext>
                  </a:extLst>
                </a:gridCol>
                <a:gridCol w="1175342">
                  <a:extLst>
                    <a:ext uri="{9D8B030D-6E8A-4147-A177-3AD203B41FA5}">
                      <a16:colId xmlns:a16="http://schemas.microsoft.com/office/drawing/2014/main" val="1626524931"/>
                    </a:ext>
                  </a:extLst>
                </a:gridCol>
              </a:tblGrid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Impact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Achieved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503321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Audience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379676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Knowledge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920225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Post-presentation surveys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535648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Referral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208549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Collaboration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of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2318458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62132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D22C5-0C9E-B582-A8FE-B45E70A01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1" y="849782"/>
            <a:ext cx="5715000" cy="2727709"/>
          </a:xfrm>
        </p:spPr>
        <p:txBody>
          <a:bodyPr/>
          <a:lstStyle/>
          <a:p>
            <a:r>
              <a:rPr lang="en-US" dirty="0"/>
              <a:t>Thank 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B5CEF2-E667-BBB5-2EA6-C06F93B6DE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13606"/>
            <a:ext cx="5715000" cy="2234642"/>
          </a:xfrm>
        </p:spPr>
        <p:txBody>
          <a:bodyPr/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 </a:t>
            </a:r>
          </a:p>
          <a:p>
            <a:r>
              <a:rPr lang="en-US" dirty="0"/>
              <a:t>www.firstupconsultants.com</a:t>
            </a:r>
          </a:p>
        </p:txBody>
      </p:sp>
    </p:spTree>
    <p:extLst>
      <p:ext uri="{BB962C8B-B14F-4D97-AF65-F5344CB8AC3E}">
        <p14:creationId xmlns:p14="http://schemas.microsoft.com/office/powerpoint/2010/main" val="197317304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{C01E43BA-CBD2-4B6E-A707-A2B7C71DF2B4}tf78438558_win32</Template>
  <TotalTime>150</TotalTime>
  <Words>986</Words>
  <Application>Microsoft Office PowerPoint</Application>
  <PresentationFormat>Widescreen</PresentationFormat>
  <Paragraphs>160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Arial Black</vt:lpstr>
      <vt:lpstr>Calibri</vt:lpstr>
      <vt:lpstr>Sabon Next LT</vt:lpstr>
      <vt:lpstr>Custom</vt:lpstr>
      <vt:lpstr>ABC HealthCare Case Study  Bhoopesh Sharma</vt:lpstr>
      <vt:lpstr>ABC HealthCare Case Study</vt:lpstr>
      <vt:lpstr>agenda</vt:lpstr>
      <vt:lpstr>The power of communication</vt:lpstr>
      <vt:lpstr>Overcoming nervousness</vt:lpstr>
      <vt:lpstr>Objective</vt:lpstr>
      <vt:lpstr>Regression analysis for payment time prediction</vt:lpstr>
      <vt:lpstr>Outlier Detection using Z-scores for Audit</vt:lpstr>
      <vt:lpstr>Supervised Model for Fraud Detection</vt:lpstr>
      <vt:lpstr>Unsupervised Model to Detect Anomalies</vt:lpstr>
      <vt:lpstr>Selecting  visual aids</vt:lpstr>
      <vt:lpstr>Effective delivery techniques</vt:lpstr>
      <vt:lpstr>Navigating Q&amp;A  sessions</vt:lpstr>
      <vt:lpstr>Speaking impact</vt:lpstr>
      <vt:lpstr>Dynamic delivery</vt:lpstr>
      <vt:lpstr>Final tips &amp; takeaways</vt:lpstr>
      <vt:lpstr>Speaking engagement metrics</vt:lpstr>
      <vt:lpstr>Thank 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Sharma, Bhoopesh</dc:creator>
  <cp:lastModifiedBy>Sharma, Bhoopesh</cp:lastModifiedBy>
  <cp:revision>6</cp:revision>
  <dcterms:created xsi:type="dcterms:W3CDTF">2025-11-04T10:49:48Z</dcterms:created>
  <dcterms:modified xsi:type="dcterms:W3CDTF">2025-11-05T06:09:50Z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