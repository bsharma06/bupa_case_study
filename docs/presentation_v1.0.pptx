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3"/>
  </p:notesMasterIdLst>
  <p:handoutMasterIdLst>
    <p:handoutMasterId r:id="rId24"/>
  </p:handoutMasterIdLst>
  <p:sldIdLst>
    <p:sldId id="312" r:id="rId5"/>
    <p:sldId id="324" r:id="rId6"/>
    <p:sldId id="304" r:id="rId7"/>
    <p:sldId id="307" r:id="rId8"/>
    <p:sldId id="281" r:id="rId9"/>
    <p:sldId id="282" r:id="rId10"/>
    <p:sldId id="315" r:id="rId11"/>
    <p:sldId id="325" r:id="rId12"/>
    <p:sldId id="326" r:id="rId13"/>
    <p:sldId id="327" r:id="rId14"/>
    <p:sldId id="314" r:id="rId15"/>
    <p:sldId id="323" r:id="rId16"/>
    <p:sldId id="317" r:id="rId17"/>
    <p:sldId id="318" r:id="rId18"/>
    <p:sldId id="319" r:id="rId19"/>
    <p:sldId id="321" r:id="rId20"/>
    <p:sldId id="322" r:id="rId21"/>
    <p:sldId id="297" r:id="rId2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104" d="100"/>
          <a:sy n="104" d="100"/>
        </p:scale>
        <p:origin x="144" y="13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09F5-E550-C751-7BEC-BAAC773C5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59D77-07B5-7985-B2AF-5F62A55CA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05217-2220-A13B-CE97-03F803851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754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8A1C-156E-AB5D-E9B3-A0F5B6BA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A1CCF-4B91-6165-5F0A-2168B98AD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EB2E1-0E2C-A0CD-F1FB-3FD450A85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187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25B2-7F19-34A1-C96B-26FA95C6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E8811-B61B-B495-CA7B-BF21532D0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B35F3-75C8-A5E5-9D17-D7D67224A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466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0BEF7-6357-38EA-5E62-D0FD2CB6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E49EF-EDF8-DA7F-6842-F09BC2B03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D11B8-14E6-6B9D-B736-10AEE0373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500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ABC HealthCare Case Study</a:t>
            </a:r>
            <a:br>
              <a:rPr lang="en-US" dirty="0"/>
            </a:br>
            <a:br>
              <a:rPr lang="en-US" dirty="0"/>
            </a:br>
            <a:r>
              <a:rPr lang="en-US" sz="1800" dirty="0">
                <a:latin typeface="+mn-lt"/>
              </a:rPr>
              <a:t>Bhoopesh Sharma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62F7-DE83-0C1D-083C-B71FB830A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ABC HealthCare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29BE8-E310-580F-4A15-FBE425EAD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Bhoopesh Sharma</a:t>
            </a:r>
          </a:p>
        </p:txBody>
      </p:sp>
    </p:spTree>
    <p:extLst>
      <p:ext uri="{BB962C8B-B14F-4D97-AF65-F5344CB8AC3E}">
        <p14:creationId xmlns:p14="http://schemas.microsoft.com/office/powerpoint/2010/main" val="191843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Using descriptive analytics, statistical outlier detection and supervised/unsupervised models to priorities high-risk payments and recommend process &amp; data controls to reduce fraud risk and shorten payment times.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Detect anomalous/fraudulent payment requests.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Explain drivers of long payment lead times.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Deliver actionable sample lists for audit follow-up and controls recommendations.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Approach (3 pillars):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Descriptive &amp; diagnostic analytics (Power BI / Pandas)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Statistical outlier detection &amp; sampling (Z-score, IQR, rule-based heuristics)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ML &amp; AI (supervised classifier + unsupervised anomaly detection + AI-assisted audit report)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Regression analysis for payment time prediction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Here are the key results from the Linear Regression model:</a:t>
            </a:r>
          </a:p>
          <a:p>
            <a:pPr lvl="1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Mean Absolute Error (MAE): </a:t>
            </a:r>
            <a:r>
              <a:rPr lang="en-US" sz="1600" b="1" dirty="0">
                <a:solidFill>
                  <a:srgbClr val="202C8F"/>
                </a:solidFill>
              </a:rPr>
              <a:t>6.68 days</a:t>
            </a:r>
          </a:p>
          <a:p>
            <a:pPr lvl="1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Mean Squared Error (MSE): </a:t>
            </a:r>
            <a:r>
              <a:rPr lang="en-US" sz="1600" b="1" dirty="0">
                <a:solidFill>
                  <a:srgbClr val="202C8F"/>
                </a:solidFill>
              </a:rPr>
              <a:t>64.83</a:t>
            </a:r>
          </a:p>
          <a:p>
            <a:pPr lvl="1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Root Mean Squared Error (RMSE): </a:t>
            </a:r>
            <a:r>
              <a:rPr lang="en-US" sz="1600" b="1" dirty="0">
                <a:solidFill>
                  <a:srgbClr val="202C8F"/>
                </a:solidFill>
              </a:rPr>
              <a:t>8.05 days</a:t>
            </a:r>
          </a:p>
          <a:p>
            <a:pPr lvl="1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R-squared (R2): </a:t>
            </a:r>
            <a:r>
              <a:rPr lang="en-US" sz="1600" b="1" dirty="0">
                <a:solidFill>
                  <a:srgbClr val="202C8F"/>
                </a:solidFill>
              </a:rPr>
              <a:t>- 0.19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08049" y="2303028"/>
            <a:ext cx="4402814" cy="3720337"/>
          </a:xfrm>
        </p:spPr>
        <p:txBody>
          <a:bodyPr>
            <a:noAutofit/>
          </a:bodyPr>
          <a:lstStyle/>
          <a:p>
            <a:r>
              <a:rPr lang="en-US" sz="1600" b="1" dirty="0"/>
              <a:t>Analysis: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Based on these results, the model does not strongly support the hypothesis that "all invoices take ~same time ±1 day." </a:t>
            </a:r>
            <a:r>
              <a:rPr lang="en-US" sz="1600" dirty="0">
                <a:solidFill>
                  <a:srgbClr val="202C8F"/>
                </a:solidFill>
              </a:rPr>
              <a:t>The Mean Absolute Error of 6.68 days indicates that, on average, our predictions are off by approximately 6.68 days, which is significantly higher than the ±1 day specified in the hypothesis.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negative R-squared value suggests that the model performs worse than a simple horizontal line at the mean of the observed payment times, implying that the current features and linear model are not effectively capturing the underlying patterns in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D9721-B384-07CD-5190-13D96024D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321" y="1066077"/>
            <a:ext cx="2754308" cy="247390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843D60-B8D3-5C09-C9CD-8570386C0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321" y="3715105"/>
            <a:ext cx="2754308" cy="247390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661759-6C45-6FE6-E6D6-588F538D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557C-9E30-EE9D-8861-18466150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Outlier Detection using Z-scores for Audit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8F14A5-95BB-4D21-2811-14F3F05CE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039072AD-1D56-8230-471F-B20710555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08049" y="2303028"/>
            <a:ext cx="4402814" cy="4335516"/>
          </a:xfrm>
        </p:spPr>
        <p:txBody>
          <a:bodyPr>
            <a:noAutofit/>
          </a:bodyPr>
          <a:lstStyle/>
          <a:p>
            <a:r>
              <a:rPr lang="en-US" sz="1600" b="1" dirty="0"/>
              <a:t>Analysis: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Identified </a:t>
            </a:r>
            <a:r>
              <a:rPr lang="en-US" sz="1600" dirty="0">
                <a:solidFill>
                  <a:srgbClr val="202C8F"/>
                </a:solidFill>
              </a:rPr>
              <a:t>0 outliers in 'time to payment' using a Z-score threshold of 3 and 33 outliers using 2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This suggests that, based on a normal distribution assumption and these specific threshold, there are no data points that are significantly far from the mean payment time.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It's possible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time_to_payment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 is not normally distributed, making Z-scores less effective for outlier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chosen threshold of 3 or 2 is too conservative.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There are indeed no extreme outliers in the dataset.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015A6A-9482-34B2-9B09-93060FE2AC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Here are the key results: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Identified 33 outliers in '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time_to_payment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 using a Z-score threshold of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Percentage of outliers: </a:t>
            </a:r>
            <a:r>
              <a:rPr lang="en-US" sz="1600" b="1" dirty="0">
                <a:solidFill>
                  <a:srgbClr val="202C8F"/>
                </a:solidFill>
              </a:rPr>
              <a:t>2.31%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 of 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time_to_payment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569214" lvl="1" indent="-2857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  - </a:t>
            </a:r>
            <a:r>
              <a:rPr lang="en-US" sz="1600" b="1" dirty="0">
                <a:solidFill>
                  <a:srgbClr val="202C8F"/>
                </a:solidFill>
              </a:rPr>
              <a:t>1428.000000</a:t>
            </a:r>
          </a:p>
          <a:p>
            <a:pPr marL="569214" lvl="1" indent="-2857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mean - </a:t>
            </a:r>
            <a:r>
              <a:rPr lang="en-US" sz="1600" b="1" dirty="0">
                <a:solidFill>
                  <a:srgbClr val="202C8F"/>
                </a:solidFill>
              </a:rPr>
              <a:t>18.469888</a:t>
            </a:r>
          </a:p>
          <a:p>
            <a:pPr marL="569214" lvl="1" indent="-2857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Std - </a:t>
            </a:r>
            <a:r>
              <a:rPr lang="en-US" sz="1600" b="1" dirty="0">
                <a:solidFill>
                  <a:srgbClr val="202C8F"/>
                </a:solidFill>
              </a:rPr>
              <a:t>7.273981</a:t>
            </a:r>
          </a:p>
          <a:p>
            <a:pPr marL="569214" lvl="1" indent="-2857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 - </a:t>
            </a:r>
            <a:r>
              <a:rPr lang="en-US" sz="1600" b="1" dirty="0">
                <a:solidFill>
                  <a:srgbClr val="202C8F"/>
                </a:solidFill>
              </a:rPr>
              <a:t>2.000000</a:t>
            </a:r>
          </a:p>
          <a:p>
            <a:pPr marL="569214" lvl="1" indent="-28575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 - </a:t>
            </a:r>
            <a:r>
              <a:rPr lang="en-US" sz="1600" b="1" dirty="0">
                <a:solidFill>
                  <a:srgbClr val="202C8F"/>
                </a:solidFill>
              </a:rPr>
              <a:t>35.000000</a:t>
            </a:r>
            <a:endParaRPr lang="en-IN" sz="1600" b="1" dirty="0">
              <a:solidFill>
                <a:srgbClr val="202C8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30113D-10F0-5C8C-7AD0-21492882F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204" y="3939619"/>
            <a:ext cx="2812868" cy="117104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73A2CB-1915-5E56-F17F-E39D990FA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204" y="2001801"/>
            <a:ext cx="2812868" cy="181872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BEF5C-7ED4-DE77-49A6-FCC80D3C1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204" y="5229758"/>
            <a:ext cx="2812868" cy="117104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845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1C5D45D-2420-5F96-3876-1A5EAA25B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E179F-09C7-5445-9DD8-F66BA337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Supervised Model for Fraud Detection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8378B5-5D07-8B28-1C7C-6F32AA0D65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FF8E358F-0FE6-412D-84BA-FA0CB3EBF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70665" y="2133220"/>
            <a:ext cx="5888826" cy="2083980"/>
          </a:xfrm>
        </p:spPr>
        <p:txBody>
          <a:bodyPr>
            <a:noAutofit/>
          </a:bodyPr>
          <a:lstStyle/>
          <a:p>
            <a:r>
              <a:rPr lang="en-US" sz="1600" b="1" dirty="0"/>
              <a:t>Analysis: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fraud detection model achieved 96% accuracy and a ROC-AUC score of 0.78, showing a good ability to distinguish between fraud and non-fraud cases. </a:t>
            </a:r>
            <a:r>
              <a:rPr lang="en-US" sz="1400" dirty="0">
                <a:solidFill>
                  <a:srgbClr val="202C8F"/>
                </a:solidFill>
              </a:rPr>
              <a:t>It correctly identified 134 non-fraud and 1 fraud case but missed 5 actual frauds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While its precision for fraud is perfect (1.00), meaning every fraud prediction is correct, its recall is very low (0.17), indicating it detects only 17% of real frauds. The low F1-score (0.29) further reflects this imbalance, suggesting the model struggles to identify all fraudulent transactions due to the highly imbalanced dataset.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B72E60-741A-AA56-2F58-D759FA9E6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133220"/>
            <a:ext cx="2337848" cy="203272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73CC5C-D368-29BB-3107-4EA673238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125" y="2133220"/>
            <a:ext cx="2286277" cy="203272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7A0271-7743-11F1-7325-BC672B6FC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" y="4436889"/>
            <a:ext cx="2337847" cy="208398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7AA83F-6561-6BBD-23E0-96E71AA61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125" y="4436890"/>
            <a:ext cx="2286277" cy="208398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7AE3C6-0F69-AE25-6AD4-8918842D6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0665" y="4436889"/>
            <a:ext cx="3542790" cy="208398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733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9B111B-9236-BD68-6004-04EBA954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8FBE-F3D6-4111-F905-4195574F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Unsupervised Model to Detect Anomalies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24DCA0-8503-AC44-A893-58995C2A5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243D5808-6D28-A5F1-CD92-4E0697FCC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92210" y="2135246"/>
            <a:ext cx="3633817" cy="4335516"/>
          </a:xfrm>
        </p:spPr>
        <p:txBody>
          <a:bodyPr>
            <a:noAutofit/>
          </a:bodyPr>
          <a:lstStyle/>
          <a:p>
            <a:r>
              <a:rPr lang="en-US" sz="1600" b="1" dirty="0"/>
              <a:t>Analysis: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Isolation Forest model </a:t>
            </a:r>
            <a:r>
              <a:rPr lang="en-US" sz="1600" dirty="0">
                <a:solidFill>
                  <a:srgbClr val="202C8F"/>
                </a:solidFill>
              </a:rPr>
              <a:t>identified 100 instances as anomalies within the payment data, assuming a 5% contamination rate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These anomalies represent data points that deviate significantly from the normal patterns observed in the dataset across various features such as 'Invoice value' and '</a:t>
            </a:r>
            <a:r>
              <a:rPr 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time_to_payment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'. These identified anomalies warrant further investigation as they could indicate unusual payment activities, potential errors, or even fraudulent transactions that are not easily captured by simple outlier rules.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A571A9-A7F5-C11A-16E7-A67229955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264462"/>
            <a:ext cx="3787315" cy="196947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F17244-7B46-A25C-78FA-9EBFE6618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4303004"/>
            <a:ext cx="3787315" cy="233554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19D3FB-3E36-B3AF-EAAA-BD7580B12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050" y="4303004"/>
            <a:ext cx="2635824" cy="233554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41AAEEE-3B88-7FDB-9605-A23C67EB7A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050" y="2264462"/>
            <a:ext cx="2635824" cy="196852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9309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C104-8204-E81C-3850-0821F5BC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5685-7551-4613-958C-47D59E6F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C9917A-25EF-5587-93C3-06D06896D1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48EE6E2F-FF06-27FD-1590-C7A45F1F7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60D57B5F-E345-5E7A-097B-EE6CCE9AC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397761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{C01E43BA-CBD2-4B6E-A707-A2B7C71DF2B4}tf78438558_win32</Template>
  <TotalTime>138</TotalTime>
  <Words>986</Words>
  <Application>Microsoft Office PowerPoint</Application>
  <PresentationFormat>Widescreen</PresentationFormat>
  <Paragraphs>160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Sabon Next LT</vt:lpstr>
      <vt:lpstr>Custom</vt:lpstr>
      <vt:lpstr>ABC HealthCare Case Study  Bhoopesh Sharma</vt:lpstr>
      <vt:lpstr>ABC HealthCare Case Study</vt:lpstr>
      <vt:lpstr>agenda</vt:lpstr>
      <vt:lpstr>The power of communication</vt:lpstr>
      <vt:lpstr>Overcoming nervousness</vt:lpstr>
      <vt:lpstr>Objective</vt:lpstr>
      <vt:lpstr>Regression analysis for payment time prediction</vt:lpstr>
      <vt:lpstr>Outlier Detection using Z-scores for Audit</vt:lpstr>
      <vt:lpstr>Supervised Model for Fraud Detection</vt:lpstr>
      <vt:lpstr>Unsupervised Model to Detect Anomalies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Sharma, Bhoopesh</dc:creator>
  <cp:lastModifiedBy>Sharma, Bhoopesh</cp:lastModifiedBy>
  <cp:revision>5</cp:revision>
  <dcterms:created xsi:type="dcterms:W3CDTF">2025-11-04T10:49:48Z</dcterms:created>
  <dcterms:modified xsi:type="dcterms:W3CDTF">2025-11-04T14:05:02Z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